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3" r:id="rId9"/>
    <p:sldId id="262" r:id="rId10"/>
    <p:sldId id="264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Playfair Display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0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89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487483"/>
            <a:ext cx="7409543" cy="6156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                  Blood </a:t>
            </a: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Bank Management</a:t>
            </a:r>
            <a:endParaRPr lang="en-US" sz="2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5BE73-CD46-5CF0-3E71-05EFADF2B83C}"/>
              </a:ext>
            </a:extLst>
          </p:cNvPr>
          <p:cNvSpPr/>
          <p:nvPr/>
        </p:nvSpPr>
        <p:spPr>
          <a:xfrm>
            <a:off x="7416800" y="4441371"/>
            <a:ext cx="1727200" cy="702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9BB2A-6EDE-6A7B-64E6-EDC264ACE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899" y="1799581"/>
            <a:ext cx="3962388" cy="22264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9033" y="174134"/>
            <a:ext cx="8045934" cy="670691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4" name="Text 2"/>
          <p:cNvSpPr/>
          <p:nvPr/>
        </p:nvSpPr>
        <p:spPr>
          <a:xfrm>
            <a:off x="2909541" y="308747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 Linked List &amp; Queue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876801" y="898842"/>
            <a:ext cx="3403600" cy="441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Linked List — Dynamic Storage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949371" y="1242456"/>
            <a:ext cx="3788626" cy="164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Nodes: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Donor*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Patient*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Blood*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heads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node holds data + pointer to next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Functions: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addDonor()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deleteDonor()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showDonors()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node becomes head — no fixed size limits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flipV="1">
            <a:off x="5080000" y="2904314"/>
            <a:ext cx="3657997" cy="71104"/>
          </a:xfrm>
          <a:prstGeom prst="roundRect">
            <a:avLst>
              <a:gd name="adj" fmla="val 120454"/>
            </a:avLst>
          </a:prstGeom>
          <a:solidFill>
            <a:srgbClr val="39393C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949371" y="3061590"/>
            <a:ext cx="3592682" cy="358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Queue — FIFO Request System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49371" y="3504841"/>
            <a:ext cx="3788626" cy="1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Pointers: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frontReq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/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rearReq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Functions: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enqueueRequest()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dequeueRequest()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Oldest emergency request processed first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FCD5A-3AE7-E590-C201-9CE43BE882E4}"/>
              </a:ext>
            </a:extLst>
          </p:cNvPr>
          <p:cNvSpPr/>
          <p:nvPr/>
        </p:nvSpPr>
        <p:spPr>
          <a:xfrm>
            <a:off x="7416801" y="4702629"/>
            <a:ext cx="1727200" cy="4408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E20482-31D1-1CE3-C989-6EBA088AC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29" y="2956697"/>
            <a:ext cx="2442458" cy="20592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BE477B-78C0-3BD9-8F91-4770625F9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29" y="1035658"/>
            <a:ext cx="2442458" cy="1716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72A05D46-8ACE-0FA2-61C9-8812D8725228}"/>
              </a:ext>
            </a:extLst>
          </p:cNvPr>
          <p:cNvSpPr/>
          <p:nvPr/>
        </p:nvSpPr>
        <p:spPr>
          <a:xfrm>
            <a:off x="265456" y="195880"/>
            <a:ext cx="8573445" cy="660464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2"/>
          <p:cNvSpPr/>
          <p:nvPr/>
        </p:nvSpPr>
        <p:spPr>
          <a:xfrm>
            <a:off x="2174495" y="333352"/>
            <a:ext cx="4552876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   Stack, Arrays &amp; File Handling</a:t>
            </a:r>
            <a:endParaRPr lang="en-US" sz="2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457" y="990215"/>
            <a:ext cx="4737050" cy="11147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338" y="1036302"/>
            <a:ext cx="3293176" cy="28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Stack — Donation History (LIFO)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31338" y="1317948"/>
            <a:ext cx="4412159" cy="7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Pointer: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topDonation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Functions: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pushDonation()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showDonationHistory()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recent donation always surfaces first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1852" y="2201478"/>
            <a:ext cx="4737050" cy="11147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13622" y="2213891"/>
            <a:ext cx="2513749" cy="336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Arrays &amp; Strings — Identity Data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225074" y="2476652"/>
            <a:ext cx="4490605" cy="700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blood groups, names, CNIC, phone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functions: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strEqual()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toUpperCase()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Validates input without library dependencies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457" y="3412741"/>
            <a:ext cx="4737050" cy="11147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9631" y="3513514"/>
            <a:ext cx="2264540" cy="31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File Handling — Persistence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49631" y="3767375"/>
            <a:ext cx="4412159" cy="8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Writes to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donor.txt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patient.txt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survives program termination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at startup for session continuity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0524F-A480-8648-467E-4278CAC7CE0A}"/>
              </a:ext>
            </a:extLst>
          </p:cNvPr>
          <p:cNvSpPr/>
          <p:nvPr/>
        </p:nvSpPr>
        <p:spPr>
          <a:xfrm>
            <a:off x="7112000" y="4834756"/>
            <a:ext cx="2032000" cy="3087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E8A097BE-37D4-5916-C3ED-C0D005D8DB0B}"/>
              </a:ext>
            </a:extLst>
          </p:cNvPr>
          <p:cNvSpPr/>
          <p:nvPr/>
        </p:nvSpPr>
        <p:spPr>
          <a:xfrm>
            <a:off x="249376" y="93900"/>
            <a:ext cx="8640624" cy="640964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10217" y="236157"/>
            <a:ext cx="5110890" cy="498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Function Mapping &amp; System Flow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15" y="938783"/>
            <a:ext cx="3668167" cy="4252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4936" y="1451795"/>
            <a:ext cx="1329035" cy="33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Layer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383678" y="1755205"/>
            <a:ext cx="345564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Donor / Patient / Nurse / Manager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159" y="903613"/>
            <a:ext cx="3668241" cy="4252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99372" y="151022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Menu Interface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84452" y="1751312"/>
            <a:ext cx="34557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menus route actions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15" y="2092747"/>
            <a:ext cx="3668167" cy="4252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4936" y="256302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DSA Layer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83678" y="2822376"/>
            <a:ext cx="345564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 List · Queue · Stack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26" y="2036936"/>
            <a:ext cx="3668241" cy="4252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78189" y="254191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678188" y="2827695"/>
            <a:ext cx="34557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Persistence via </a:t>
            </a:r>
            <a:r>
              <a:rPr lang="en-US" sz="1200" dirty="0"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03759" y="3100536"/>
            <a:ext cx="7336408" cy="1039416"/>
          </a:xfrm>
          <a:prstGeom prst="roundRect">
            <a:avLst>
              <a:gd name="adj" fmla="val 153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24011" y="3150068"/>
            <a:ext cx="317539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18926" y="3165050"/>
            <a:ext cx="46407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DSA Used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24011" y="3467419"/>
            <a:ext cx="317539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 err="1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addDonor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 err="1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deleteDonor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84452" y="3457081"/>
            <a:ext cx="46407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24011" y="3854570"/>
            <a:ext cx="317539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 err="1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enqueueRequest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 err="1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dequeueRequest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84451" y="3791888"/>
            <a:ext cx="46407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Queue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4936" y="4263965"/>
            <a:ext cx="317539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pushDonation()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showDonationHistory()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99372" y="4201744"/>
            <a:ext cx="46407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680645" y="4286920"/>
            <a:ext cx="39056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680645" y="4540821"/>
            <a:ext cx="39056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789905-7DA9-BFBA-E030-ECC5FC769697}"/>
              </a:ext>
            </a:extLst>
          </p:cNvPr>
          <p:cNvSpPr/>
          <p:nvPr/>
        </p:nvSpPr>
        <p:spPr>
          <a:xfrm>
            <a:off x="7416800" y="4835575"/>
            <a:ext cx="1727200" cy="307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">
            <a:extLst>
              <a:ext uri="{FF2B5EF4-FFF2-40B4-BE49-F238E27FC236}">
                <a16:creationId xmlns:a16="http://schemas.microsoft.com/office/drawing/2014/main" id="{52D677AE-6325-A2A2-8133-1CF8261DA878}"/>
              </a:ext>
            </a:extLst>
          </p:cNvPr>
          <p:cNvSpPr/>
          <p:nvPr/>
        </p:nvSpPr>
        <p:spPr>
          <a:xfrm>
            <a:off x="443918" y="3056580"/>
            <a:ext cx="3223543" cy="547466"/>
          </a:xfrm>
          <a:prstGeom prst="roundRect">
            <a:avLst>
              <a:gd name="adj" fmla="val 2791"/>
            </a:avLst>
          </a:prstGeom>
          <a:solidFill>
            <a:srgbClr val="E0E0EC"/>
          </a:solidFill>
          <a:ln/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13B5EA3E-5800-427A-E6E4-D0524AD20537}"/>
              </a:ext>
            </a:extLst>
          </p:cNvPr>
          <p:cNvSpPr/>
          <p:nvPr/>
        </p:nvSpPr>
        <p:spPr>
          <a:xfrm>
            <a:off x="443920" y="2378965"/>
            <a:ext cx="3223543" cy="547466"/>
          </a:xfrm>
          <a:prstGeom prst="roundRect">
            <a:avLst>
              <a:gd name="adj" fmla="val 2791"/>
            </a:avLst>
          </a:prstGeom>
          <a:solidFill>
            <a:srgbClr val="E0E0EC"/>
          </a:solidFill>
          <a:ln/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70D653B0-1B8A-4D89-1F6C-01E10CD1826E}"/>
              </a:ext>
            </a:extLst>
          </p:cNvPr>
          <p:cNvSpPr/>
          <p:nvPr/>
        </p:nvSpPr>
        <p:spPr>
          <a:xfrm>
            <a:off x="443919" y="986595"/>
            <a:ext cx="3223543" cy="547466"/>
          </a:xfrm>
          <a:prstGeom prst="roundRect">
            <a:avLst>
              <a:gd name="adj" fmla="val 2791"/>
            </a:avLst>
          </a:prstGeom>
          <a:solidFill>
            <a:srgbClr val="E0E0EC"/>
          </a:solidFill>
          <a:ln/>
        </p:spPr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CFE7F329-3F42-FF13-E834-3D3309A1C297}"/>
              </a:ext>
            </a:extLst>
          </p:cNvPr>
          <p:cNvSpPr/>
          <p:nvPr/>
        </p:nvSpPr>
        <p:spPr>
          <a:xfrm>
            <a:off x="389181" y="109053"/>
            <a:ext cx="8365637" cy="507928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4" name="Text 2"/>
          <p:cNvSpPr/>
          <p:nvPr/>
        </p:nvSpPr>
        <p:spPr>
          <a:xfrm>
            <a:off x="2737823" y="223578"/>
            <a:ext cx="305261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Main Menu &amp; Secure Access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9181" y="719591"/>
            <a:ext cx="368074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application's main menu provides tailored access based on user roles: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920" y="1664210"/>
            <a:ext cx="3223543" cy="547466"/>
          </a:xfrm>
          <a:prstGeom prst="roundRect">
            <a:avLst>
              <a:gd name="adj" fmla="val 2791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523618" y="1002910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Patient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3616" y="1268549"/>
            <a:ext cx="306414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Request blood, view status.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649" y="168723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Donor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649" y="1954798"/>
            <a:ext cx="306414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Register, schedule donations.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2298" y="2451481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Nurse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298" y="2689224"/>
            <a:ext cx="306414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Manage inventory, process requests.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2298" y="311009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Manager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2298" y="3343676"/>
            <a:ext cx="306414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Oversee all operations, reports.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920" y="3761617"/>
            <a:ext cx="1474068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Secure Login Protocol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600" y="3976986"/>
            <a:ext cx="3668781" cy="56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Both </a:t>
            </a:r>
            <a:r>
              <a:rPr lang="en-US" sz="1050" b="1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Manager</a:t>
            </a:r>
            <a:r>
              <a:rPr lang="en-US" sz="105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050" b="1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Nurse</a:t>
            </a:r>
            <a:r>
              <a:rPr lang="en-US" sz="105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roles require authentication to access sensitive functionalities. Each login attempt is validated against stored credentials.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51732" y="3743557"/>
            <a:ext cx="3745701" cy="691731"/>
          </a:xfrm>
          <a:prstGeom prst="roundRect">
            <a:avLst>
              <a:gd name="adj" fmla="val 3740"/>
            </a:avLst>
          </a:prstGeom>
          <a:solidFill>
            <a:srgbClr val="FCF2B5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977" y="3891638"/>
            <a:ext cx="309598" cy="2476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50465" y="3823939"/>
            <a:ext cx="3271501" cy="611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 strict 3-attempt limit is enforced. Exceeding this limit will </a:t>
            </a: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block the account</a:t>
            </a:r>
            <a:r>
              <a:rPr lang="en-US" sz="11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to prevent unauthorized access and maintain system integrity.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820838" y="3750618"/>
            <a:ext cx="14539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916534" y="4005411"/>
            <a:ext cx="3032150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6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563" y="1067574"/>
            <a:ext cx="4872518" cy="239520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528603" y="1213599"/>
            <a:ext cx="476627" cy="5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Access Decision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545224" y="1414903"/>
            <a:ext cx="963845" cy="3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Grant, Retry, or Block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545224" y="2003463"/>
            <a:ext cx="476627" cy="5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 Credentials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518443" y="1823074"/>
            <a:ext cx="963845" cy="3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Validate against directory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518443" y="2352893"/>
            <a:ext cx="476627" cy="5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Times New Roman" panose="02020603050405020304" pitchFamily="18" charset="0"/>
                <a:ea typeface="Playfair Display Bold" pitchFamily="34" charset="-122"/>
                <a:cs typeface="Times New Roman" panose="02020603050405020304" pitchFamily="18" charset="0"/>
              </a:rPr>
              <a:t>Enter Credentials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545224" y="2547461"/>
            <a:ext cx="963845" cy="3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Input username and password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6545224" y="2911556"/>
            <a:ext cx="476627" cy="213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Times New Roman" panose="02020603050405020304" pitchFamily="18" charset="0"/>
                <a:ea typeface="Playfair Display Bold" pitchFamily="34" charset="-122"/>
                <a:cs typeface="Times New Roman" panose="02020603050405020304" pitchFamily="18" charset="0"/>
              </a:rPr>
              <a:t>Start Login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545224" y="3106283"/>
            <a:ext cx="963845" cy="3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Begin user authentication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E3F0A5-5009-BE66-FB22-6C5235946E98}"/>
              </a:ext>
            </a:extLst>
          </p:cNvPr>
          <p:cNvSpPr/>
          <p:nvPr/>
        </p:nvSpPr>
        <p:spPr>
          <a:xfrm>
            <a:off x="7416800" y="4804229"/>
            <a:ext cx="1727200" cy="339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D4CE-76EE-F49C-99AC-DC5C3C61E5A1}"/>
              </a:ext>
            </a:extLst>
          </p:cNvPr>
          <p:cNvSpPr/>
          <p:nvPr/>
        </p:nvSpPr>
        <p:spPr>
          <a:xfrm>
            <a:off x="454995" y="259555"/>
            <a:ext cx="8257205" cy="718457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64114-CE55-3A9A-DD96-4A9CC1D09FA9}"/>
              </a:ext>
            </a:extLst>
          </p:cNvPr>
          <p:cNvSpPr txBox="1"/>
          <p:nvPr/>
        </p:nvSpPr>
        <p:spPr>
          <a:xfrm>
            <a:off x="3166533" y="358615"/>
            <a:ext cx="4572000" cy="52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Patient Menu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454995" y="1279953"/>
            <a:ext cx="5636422" cy="3122714"/>
          </a:xfrm>
          <a:prstGeom prst="roundRect">
            <a:avLst>
              <a:gd name="adj" fmla="val 1579"/>
            </a:avLst>
          </a:prstGeom>
          <a:solidFill>
            <a:srgbClr val="E6E6EA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31289-AA41-A312-5129-26E22C2FD42D}"/>
              </a:ext>
            </a:extLst>
          </p:cNvPr>
          <p:cNvSpPr txBox="1"/>
          <p:nvPr/>
        </p:nvSpPr>
        <p:spPr>
          <a:xfrm>
            <a:off x="643467" y="1490134"/>
            <a:ext cx="5562600" cy="2381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 Register Patient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2. Show Blood Compatibility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 Display Blood Inventory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4. Show Current Patient Details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5. Request Blood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6. Exit back to main menu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A8588-0226-8B4A-F1A2-6FCAD97CB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539" y="1442437"/>
            <a:ext cx="1898904" cy="2743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716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C0462B74-F3CB-37EB-7719-D12A6F2AB890}"/>
              </a:ext>
            </a:extLst>
          </p:cNvPr>
          <p:cNvSpPr/>
          <p:nvPr/>
        </p:nvSpPr>
        <p:spPr>
          <a:xfrm>
            <a:off x="494994" y="198488"/>
            <a:ext cx="8152887" cy="600495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544119" y="29085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Donor Menu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96612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Access the main functionalities available to donors within the system: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649" y="14278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4994" y="1770157"/>
            <a:ext cx="2290465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9" name="Text 6"/>
          <p:cNvSpPr/>
          <p:nvPr/>
        </p:nvSpPr>
        <p:spPr>
          <a:xfrm>
            <a:off x="494994" y="1930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Register Donor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10903" y="138819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005" y="1760632"/>
            <a:ext cx="2290539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2" name="Text 9"/>
          <p:cNvSpPr/>
          <p:nvPr/>
        </p:nvSpPr>
        <p:spPr>
          <a:xfrm>
            <a:off x="3310004" y="1968378"/>
            <a:ext cx="2813704" cy="509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Show Current Donor Details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6119" y="24443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2763702"/>
            <a:ext cx="2290465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5" name="Text 12"/>
          <p:cNvSpPr/>
          <p:nvPr/>
        </p:nvSpPr>
        <p:spPr>
          <a:xfrm>
            <a:off x="494994" y="2941085"/>
            <a:ext cx="21981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 Blood Compatibility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35751" y="252651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310004" y="2787545"/>
            <a:ext cx="2290539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Text 15"/>
          <p:cNvSpPr/>
          <p:nvPr/>
        </p:nvSpPr>
        <p:spPr>
          <a:xfrm>
            <a:off x="3335751" y="2959294"/>
            <a:ext cx="1806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Wants to donate blood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6119" y="35911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6120" y="3864768"/>
            <a:ext cx="2289340" cy="45719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1" name="Text 18"/>
          <p:cNvSpPr/>
          <p:nvPr/>
        </p:nvSpPr>
        <p:spPr>
          <a:xfrm>
            <a:off x="496119" y="3973711"/>
            <a:ext cx="20521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Exit (Back to Main Menu)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647388-E770-6BC0-326A-F51BA712F7D7}"/>
              </a:ext>
            </a:extLst>
          </p:cNvPr>
          <p:cNvSpPr/>
          <p:nvPr/>
        </p:nvSpPr>
        <p:spPr>
          <a:xfrm>
            <a:off x="7416800" y="4833257"/>
            <a:ext cx="1727200" cy="3102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C33E01D-EA2E-98C7-A314-B7BB8FC2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418" y="1192940"/>
            <a:ext cx="2198117" cy="32971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22E22D52-7F53-F0D2-B80A-7BFC1169CEB9}"/>
              </a:ext>
            </a:extLst>
          </p:cNvPr>
          <p:cNvSpPr/>
          <p:nvPr/>
        </p:nvSpPr>
        <p:spPr>
          <a:xfrm>
            <a:off x="387262" y="364761"/>
            <a:ext cx="8462540" cy="668909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2"/>
          <p:cNvSpPr/>
          <p:nvPr/>
        </p:nvSpPr>
        <p:spPr>
          <a:xfrm>
            <a:off x="1951208" y="499001"/>
            <a:ext cx="510860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Nurse Menu &amp; Authentication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496119" y="1380158"/>
            <a:ext cx="5179963" cy="35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Credentials: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6119" y="1876501"/>
            <a:ext cx="4722763" cy="46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Username: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nurse</a:t>
            </a:r>
            <a:endParaRPr lang="en-US" sz="12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Password: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6119" y="2741312"/>
            <a:ext cx="2196554" cy="160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Donors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Patients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Add Donor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Remove Donor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Search Donor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22328" y="2789524"/>
            <a:ext cx="2196554" cy="1552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Add Patient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Remove Patient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Search Patient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Inventory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7A0583-6994-3D02-8C5C-A848AECF382B}"/>
              </a:ext>
            </a:extLst>
          </p:cNvPr>
          <p:cNvSpPr/>
          <p:nvPr/>
        </p:nvSpPr>
        <p:spPr>
          <a:xfrm>
            <a:off x="7416800" y="4782457"/>
            <a:ext cx="1727200" cy="361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5DB13A-5F5B-FC57-846D-92062425D4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58" b="18258"/>
          <a:stretch>
            <a:fillRect/>
          </a:stretch>
        </p:blipFill>
        <p:spPr>
          <a:xfrm>
            <a:off x="5218882" y="1665078"/>
            <a:ext cx="3201155" cy="255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C91916DB-7914-3C4F-7FD3-DCFDE3FC6062}"/>
              </a:ext>
            </a:extLst>
          </p:cNvPr>
          <p:cNvSpPr/>
          <p:nvPr/>
        </p:nvSpPr>
        <p:spPr>
          <a:xfrm>
            <a:off x="404340" y="310067"/>
            <a:ext cx="8335319" cy="666336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2"/>
          <p:cNvSpPr/>
          <p:nvPr/>
        </p:nvSpPr>
        <p:spPr>
          <a:xfrm>
            <a:off x="2300536" y="432907"/>
            <a:ext cx="504847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Manager Menu &amp; Authentication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5814" y="1151574"/>
            <a:ext cx="5179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Credentials: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5814" y="1594962"/>
            <a:ext cx="4722763" cy="504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2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Username:</a:t>
            </a: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manager</a:t>
            </a:r>
            <a:endParaRPr lang="en-US" sz="12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2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Password:</a:t>
            </a: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123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5814" y="2209383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Manager Menu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7377" y="2595035"/>
            <a:ext cx="2356411" cy="223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Donors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Patients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Add Donor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Remove Donor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Search Donor by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Add Patient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Remove Patient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8"/>
            </a:pPr>
            <a:r>
              <a:rPr lang="en-US" sz="14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Search Patient by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55800" y="2607354"/>
            <a:ext cx="2356411" cy="213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Inventory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Add Blood Units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Remove Blood Units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Blood Requests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Process Next Request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Show Donation History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4000"/>
              </a:lnSpc>
              <a:buSzPct val="100000"/>
              <a:buFont typeface="+mj-lt"/>
              <a:buAutoNum type="arabicPeriod" startAt="7"/>
            </a:pPr>
            <a:r>
              <a:rPr lang="en-US" sz="16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12189-684B-2504-6B22-F214A9B3E062}"/>
              </a:ext>
            </a:extLst>
          </p:cNvPr>
          <p:cNvSpPr/>
          <p:nvPr/>
        </p:nvSpPr>
        <p:spPr>
          <a:xfrm>
            <a:off x="7416800" y="4744492"/>
            <a:ext cx="1727200" cy="399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428C6A-E2B0-105D-1A5E-C6FF9CA6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00" y="1716561"/>
            <a:ext cx="2595050" cy="2595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5D80D117-047E-25BC-A737-8976F973B2F1}"/>
              </a:ext>
            </a:extLst>
          </p:cNvPr>
          <p:cNvSpPr/>
          <p:nvPr/>
        </p:nvSpPr>
        <p:spPr>
          <a:xfrm>
            <a:off x="387262" y="293532"/>
            <a:ext cx="8335319" cy="714780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4" name="Text 2"/>
          <p:cNvSpPr/>
          <p:nvPr/>
        </p:nvSpPr>
        <p:spPr>
          <a:xfrm>
            <a:off x="2021495" y="429428"/>
            <a:ext cx="46861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 Complexity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77069" y="12232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Complexity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2135237"/>
            <a:ext cx="2641774" cy="8549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077" y="2296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Linked List Insert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4077" y="2602557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O(1)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135237"/>
            <a:ext cx="2641774" cy="8549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8560" y="2296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Linked List Search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8560" y="2602557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O(n)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033" y="2135237"/>
            <a:ext cx="2641774" cy="8549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2296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Queue Enqueue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43042" y="2602557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O(1)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131939"/>
            <a:ext cx="2641774" cy="8549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4077" y="32927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Queue Dequeue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14077" y="3599259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O(1)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3131939"/>
            <a:ext cx="2641774" cy="85494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78560" y="32927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Stack Push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478560" y="3599259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O(1)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6DBE2C-C4CA-C50C-C442-FFE9E9F40213}"/>
              </a:ext>
            </a:extLst>
          </p:cNvPr>
          <p:cNvSpPr/>
          <p:nvPr/>
        </p:nvSpPr>
        <p:spPr>
          <a:xfrm>
            <a:off x="7416800" y="4796971"/>
            <a:ext cx="1727200" cy="3465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B8078005-CA51-9908-51D4-54C936D1B58C}"/>
              </a:ext>
            </a:extLst>
          </p:cNvPr>
          <p:cNvSpPr/>
          <p:nvPr/>
        </p:nvSpPr>
        <p:spPr>
          <a:xfrm>
            <a:off x="351033" y="161945"/>
            <a:ext cx="8414832" cy="614951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2" name="Text 0"/>
          <p:cNvSpPr/>
          <p:nvPr/>
        </p:nvSpPr>
        <p:spPr>
          <a:xfrm>
            <a:off x="3068938" y="284967"/>
            <a:ext cx="26722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Flow Diagram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961" y="951736"/>
            <a:ext cx="7294263" cy="40461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2FB9BE-4A01-1B6F-BBE9-1C61F5647C26}"/>
              </a:ext>
            </a:extLst>
          </p:cNvPr>
          <p:cNvSpPr/>
          <p:nvPr/>
        </p:nvSpPr>
        <p:spPr>
          <a:xfrm>
            <a:off x="7933656" y="4804229"/>
            <a:ext cx="1210344" cy="3392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1">
            <a:extLst>
              <a:ext uri="{FF2B5EF4-FFF2-40B4-BE49-F238E27FC236}">
                <a16:creationId xmlns:a16="http://schemas.microsoft.com/office/drawing/2014/main" id="{B6CBC077-5904-3106-AE4E-9F36771963F1}"/>
              </a:ext>
            </a:extLst>
          </p:cNvPr>
          <p:cNvSpPr/>
          <p:nvPr/>
        </p:nvSpPr>
        <p:spPr>
          <a:xfrm>
            <a:off x="410177" y="948569"/>
            <a:ext cx="4722763" cy="566037"/>
          </a:xfrm>
          <a:prstGeom prst="roundRect">
            <a:avLst>
              <a:gd name="adj" fmla="val 296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5CCD65CB-28A9-C2D1-0FE0-0320F15600C5}"/>
              </a:ext>
            </a:extLst>
          </p:cNvPr>
          <p:cNvSpPr/>
          <p:nvPr/>
        </p:nvSpPr>
        <p:spPr>
          <a:xfrm>
            <a:off x="410177" y="1586514"/>
            <a:ext cx="4722763" cy="566037"/>
          </a:xfrm>
          <a:prstGeom prst="roundRect">
            <a:avLst>
              <a:gd name="adj" fmla="val 296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7A2E8A35-5431-AEA6-ACB2-7ABF16CECE3B}"/>
              </a:ext>
            </a:extLst>
          </p:cNvPr>
          <p:cNvSpPr/>
          <p:nvPr/>
        </p:nvSpPr>
        <p:spPr>
          <a:xfrm>
            <a:off x="425277" y="2228289"/>
            <a:ext cx="4722763" cy="566037"/>
          </a:xfrm>
          <a:prstGeom prst="roundRect">
            <a:avLst>
              <a:gd name="adj" fmla="val 296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2A7DE2D5-4399-4AA3-36F6-39575FC94682}"/>
              </a:ext>
            </a:extLst>
          </p:cNvPr>
          <p:cNvSpPr/>
          <p:nvPr/>
        </p:nvSpPr>
        <p:spPr>
          <a:xfrm>
            <a:off x="387262" y="132111"/>
            <a:ext cx="8260619" cy="511658"/>
          </a:xfrm>
          <a:prstGeom prst="roundRect">
            <a:avLst>
              <a:gd name="adj" fmla="val 6598"/>
            </a:avLst>
          </a:prstGeom>
          <a:solidFill>
            <a:srgbClr val="E3E3E8"/>
          </a:solidFill>
          <a:ln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" name="Text 0"/>
          <p:cNvSpPr/>
          <p:nvPr/>
        </p:nvSpPr>
        <p:spPr>
          <a:xfrm>
            <a:off x="3754958" y="18614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716665"/>
            <a:ext cx="5179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Each data structure solves a specific problem — together they form a coherent, scalable blood bank system.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6961" y="97557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Linked List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58" y="1234210"/>
            <a:ext cx="45810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Dynamic donor, patient &amp; inventory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6961" y="161873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Playfair Display Bold" pitchFamily="34" charset="-122"/>
                <a:cs typeface="Times New Roman" panose="02020603050405020304" pitchFamily="18" charset="0"/>
              </a:rPr>
              <a:t>Queue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61" y="1903027"/>
            <a:ext cx="45810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Fair, ordered emergency request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6961" y="229829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Stack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59" y="2547429"/>
            <a:ext cx="45810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Instant access to recent donation history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5276" y="2914611"/>
            <a:ext cx="4722763" cy="566037"/>
          </a:xfrm>
          <a:prstGeom prst="roundRect">
            <a:avLst>
              <a:gd name="adj" fmla="val 296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6961" y="2964048"/>
            <a:ext cx="885974" cy="211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File I/O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6960" y="3226509"/>
            <a:ext cx="458107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 persistence across sessions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5277" y="3588380"/>
            <a:ext cx="4722763" cy="1165265"/>
          </a:xfrm>
          <a:prstGeom prst="roundRect">
            <a:avLst>
              <a:gd name="adj" fmla="val 381"/>
            </a:avLst>
          </a:prstGeom>
          <a:solidFill>
            <a:srgbClr val="D5D5D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46658" y="3786831"/>
            <a:ext cx="4421684" cy="750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Removing any structure degrades the system — fixed arrays cause overflow, no queue loses request order, no stack hides recent activity, no file I/O wipes all data on exit.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58" y="1126591"/>
            <a:ext cx="4589560" cy="26976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9D27B5-69DB-F44F-9C58-95BB765A17CD}"/>
              </a:ext>
            </a:extLst>
          </p:cNvPr>
          <p:cNvSpPr/>
          <p:nvPr/>
        </p:nvSpPr>
        <p:spPr>
          <a:xfrm>
            <a:off x="7961086" y="4782457"/>
            <a:ext cx="1182914" cy="361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617</Words>
  <Application>Microsoft Office PowerPoint</Application>
  <PresentationFormat>On-screen Show (16:9)</PresentationFormat>
  <Paragraphs>150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Playfair Display Bold</vt:lpstr>
      <vt:lpstr>Times New Roman</vt:lpstr>
      <vt:lpstr>Open Sans</vt:lpstr>
      <vt:lpstr>Arial</vt:lpstr>
      <vt:lpstr>Playfair Display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HP</cp:lastModifiedBy>
  <cp:revision>6</cp:revision>
  <dcterms:created xsi:type="dcterms:W3CDTF">2026-06-15T08:01:14Z</dcterms:created>
  <dcterms:modified xsi:type="dcterms:W3CDTF">2026-07-26T08:08:36Z</dcterms:modified>
</cp:coreProperties>
</file>